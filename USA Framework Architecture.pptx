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41" autoAdjust="0"/>
  </p:normalViewPr>
  <p:slideViewPr>
    <p:cSldViewPr snapToGrid="0" snapToObjects="1">
      <p:cViewPr varScale="1">
        <p:scale>
          <a:sx n="151" d="100"/>
          <a:sy n="151" d="100"/>
        </p:scale>
        <p:origin x="65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5450" y="2689919"/>
            <a:ext cx="8801100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>
                <a:solidFill>
                  <a:srgbClr val="F8FAFC"/>
                </a:solidFill>
                <a:latin typeface="Inter"/>
              </a:rPr>
              <a:t>USA Framework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600" y="3588990"/>
            <a:ext cx="41148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 dirty="0">
                <a:solidFill>
                  <a:srgbClr val="94A3B8"/>
                </a:solidFill>
                <a:latin typeface="Inter"/>
              </a:rPr>
              <a:t>How usa/ is wired on top of 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600" y="2019461"/>
            <a:ext cx="8032750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USA is </a:t>
            </a: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not a fork or a copy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of EU. It is an </a:t>
            </a: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isolated usa/ subtree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that </a:t>
            </a: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reuses the EU engine (src/) via import and </a:t>
            </a:r>
            <a:r>
              <a:rPr lang="en-US" sz="1500" b="0" i="0" u="none" dirty="0">
                <a:solidFill>
                  <a:srgbClr val="F8FAFC"/>
                </a:solidFill>
                <a:latin typeface="Inter SemiBold"/>
              </a:rPr>
              <a:t>inheritance and</a:t>
            </a: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 never modifies src/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013853"/>
            <a:ext cx="8651875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When something in USA's DOM/UX (the DEV2 environment) diverges from EU, </a:t>
            </a: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only that one piece is duplicated inside usa/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(rule: </a:t>
            </a:r>
            <a:r>
              <a:rPr sz="1500" b="0" i="1" u="none" dirty="0">
                <a:solidFill>
                  <a:srgbClr val="CBD5E1"/>
                </a:solidFill>
                <a:latin typeface="Inter"/>
              </a:rPr>
              <a:t>duplicate-on-divergence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). Everything that is structurally identical is inherited as-is.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183174"/>
            <a:ext cx="6870700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USA "runs on the same EU engine" with a thin layer of its own on top.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853116"/>
            <a:ext cx="107886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F8FAFC"/>
                </a:solidFill>
                <a:latin typeface="Inter SemiBold"/>
              </a:rPr>
              <a:t>Guiding 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990600" y="1455097"/>
            <a:ext cx="9194800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11049000" cy="396984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609725"/>
          <a:ext cx="11029948" cy="3950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3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9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398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8BDF8"/>
                          </a:solidFill>
                          <a:latin typeface="Inter SemiBold"/>
                        </a:rPr>
                        <a:t>EU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8BDF8"/>
                          </a:solidFill>
                          <a:latin typeface="Inter SemiBold"/>
                        </a:rPr>
                        <a:t>USA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398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src/**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usa/**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98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Playwright config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playwright.config.ts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playwright.usa.config.ts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98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tsconfig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tsconfig.json (root)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usa/tsconfig.json (extends the root)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398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Hooks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src/hooks/global/**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usa/hooks/global-setup.ts + global-teardown.ts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398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Fixtures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src/fixtures/merge.fixtures.ts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usa/fixtures/usa.fixtures.ts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403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Test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src/test-data/**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usa/test-data/**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109787"/>
            <a:ext cx="19770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2558057" y="2109787"/>
            <a:ext cx="36732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231284" y="2109787"/>
            <a:ext cx="5379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581025" y="2684115"/>
            <a:ext cx="19770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2558057" y="2684115"/>
            <a:ext cx="36732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31284" y="2684115"/>
            <a:ext cx="5379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81025" y="3258442"/>
            <a:ext cx="19770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2558057" y="3258442"/>
            <a:ext cx="36732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231284" y="3258442"/>
            <a:ext cx="5379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81025" y="3832770"/>
            <a:ext cx="19770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2558057" y="3832770"/>
            <a:ext cx="36732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231284" y="3832770"/>
            <a:ext cx="5379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581025" y="4407098"/>
            <a:ext cx="19770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2558057" y="4407098"/>
            <a:ext cx="36732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231284" y="4407098"/>
            <a:ext cx="5379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581025" y="4981426"/>
            <a:ext cx="19770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2558057" y="4981426"/>
            <a:ext cx="36732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6231284" y="4981426"/>
            <a:ext cx="5379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F8FAFC"/>
                </a:solidFill>
                <a:latin typeface="Inter SemiBold"/>
              </a:rPr>
              <a:t>Physical separation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9250"/>
            <a:ext cx="110013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38BDF8"/>
                </a:solidFill>
                <a:latin typeface="Inter Medium"/>
              </a:rPr>
              <a:t>a) Fixtures — usa/fixtures/usa.fixtures.ts: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43125"/>
            <a:ext cx="10477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its own base.extend (from @playwright/test), NOT EU's merge.fixtures.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00325"/>
            <a:ext cx="10477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It defines: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095625"/>
            <a:ext cx="100488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darwinConnection (worker-scoped, auto): re-attaches CDP per worker (because global-setup runs in a separate process).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933825"/>
            <a:ext cx="100488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Injects the page objects in their </a:t>
            </a: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USA version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: darwinLauncher (UsaLaunchPage), darwinOrderManagement (UsaEscalatorPage), darwinOrderBlotter (UsaOrderBlotterPage), darwinStatic (UsaStaticPage), darwinPricer (UsaBondPricerPage), darwinLogin.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33725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71925"/>
            <a:ext cx="2000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F8FAFC"/>
                </a:solidFill>
                <a:latin typeface="Inter SemiBold"/>
              </a:rPr>
              <a:t>What is USA-OWN (lives in usa/)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31189"/>
              </p:ext>
            </p:extLst>
          </p:nvPr>
        </p:nvGraphicFramePr>
        <p:xfrm>
          <a:off x="634999" y="1620171"/>
          <a:ext cx="10941051" cy="4642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5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3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810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38BDF8"/>
                          </a:solidFill>
                          <a:latin typeface="Inter SemiBold"/>
                        </a:rPr>
                        <a:t>USA class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38BDF8"/>
                          </a:solidFill>
                          <a:latin typeface="Inter SemiBold"/>
                        </a:rPr>
                        <a:t>Extends (EU)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38BDF8"/>
                          </a:solidFill>
                          <a:latin typeface="Inter SemiBold"/>
                        </a:rPr>
                        <a:t>What it adds/overrides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10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UsaLaunchPage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DarwinLaunchPage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adds</a:t>
                      </a:r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openOrAttachOrderManager, openOrAttachBlotter, openOrResetStatic (handling of windows Darwin restores already open)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810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UsaEscalatorPage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DarwinOrderManagementPage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adds</a:t>
                      </a:r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the whole DEV2 Escalator: initPage (widget-scoped locators), Bank/Trader/VWAP, gestures placeBuyOrderAtBestBid, setPreconditions, etc.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10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UsaOrderBlotterPage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DarwinOrderBlotterPage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overrides</a:t>
                      </a:r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cell/row reading (getOrderCellValue, matching) because the DEV2 grid diverges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810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UsaStaticPage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DarwinStaticPage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overrides</a:t>
                      </a:r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openReferenceDataPage to expose bondReferential/viewDefaults as USA subtypes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810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UsaBondReferentialPage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BondRefDataPage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adds</a:t>
                      </a:r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the "Price Format" dropdown (togglePriceFormat, ensurePriceFormat)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810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UsaViewDefaultsPage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ViewDefaultsPage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adds</a:t>
                      </a:r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precision control (+/-) and messages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810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UsaBondPricerPage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DarwinBondPricerPage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adds</a:t>
                      </a:r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selectLayout, getPopulatedPriceCells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815"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enums/usa-venues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UsaD2DVenues.MULTI (USA-specific venue)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14612"/>
            <a:ext cx="2724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305175" y="2614612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315075" y="2614612"/>
            <a:ext cx="5295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581025" y="3706117"/>
            <a:ext cx="2724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305175" y="3706117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315075" y="3706117"/>
            <a:ext cx="5295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81025" y="4797623"/>
            <a:ext cx="2724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305175" y="4797623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315075" y="4797623"/>
            <a:ext cx="5295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81025" y="5629126"/>
            <a:ext cx="2724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3305175" y="5629126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315075" y="5629126"/>
            <a:ext cx="5295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581025" y="6463456"/>
            <a:ext cx="2724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3305175" y="6463456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315075" y="6463456"/>
            <a:ext cx="5295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590550" y="834773"/>
            <a:ext cx="116014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38BDF8"/>
                </a:solidFill>
                <a:latin typeface="Inter SemiBold"/>
              </a:rPr>
              <a:t>b) Page objects — usa/pages/**</a:t>
            </a:r>
            <a:r>
              <a:rPr lang="es-MX" sz="2100" b="0" i="0" u="none" dirty="0">
                <a:solidFill>
                  <a:srgbClr val="38BDF8"/>
                </a:solidFill>
                <a:latin typeface="Inter SemiBold"/>
              </a:rPr>
              <a:t> </a:t>
            </a:r>
            <a:endParaRPr sz="2100" b="0" i="0" u="none" dirty="0">
              <a:solidFill>
                <a:srgbClr val="38BDF8"/>
              </a:solidFill>
              <a:latin typeface="Inter SemiBold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1025" y="1347913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image.png">
            <a:extLst>
              <a:ext uri="{FF2B5EF4-FFF2-40B4-BE49-F238E27FC236}">
                <a16:creationId xmlns:a16="http://schemas.microsoft.com/office/drawing/2014/main" id="{02CDDFCB-3D96-EEA7-E93A-85E07B969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50" y="-114300"/>
            <a:ext cx="12312650" cy="7023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5450"/>
            <a:ext cx="116014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38BDF8"/>
                </a:solidFill>
                <a:latin typeface="Inter Medium"/>
              </a:rPr>
              <a:t>c) Utils — usa/utils/darwin-windows.ts: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09800"/>
            <a:ext cx="10858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helpers to close OpenFin windows via CDP (closeAllChildWindows, closeStaticWindows, closeWindowsByUrlParts, getOpenAppWindowUrls). They use the </a:t>
            </a: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shared CDP context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(getGlobalContext) but the logic is USA's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00400"/>
            <a:ext cx="116014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38BDF8"/>
                </a:solidFill>
                <a:latin typeface="Inter Medium"/>
              </a:rPr>
              <a:t>d) Hooks — usa/hooks/: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14750"/>
            <a:ext cx="10858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global-setup (calls EU's launchDarwin + loginToDarwin, then its own closeRestoredWindows) and global-teardown (reuses EU's DarwinLaunchPage.closeLauncherPage + resets darwinState).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05350"/>
            <a:ext cx="116014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38BDF8"/>
                </a:solidFill>
                <a:latin typeface="Inter Medium"/>
              </a:rPr>
              <a:t>e) Tests and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219700"/>
            <a:ext cx="10858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usa/tests/** (specs) and usa/test-data/us-isins.json.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F8FAFC"/>
                </a:solidFill>
                <a:latin typeface="Inter SemiBold"/>
              </a:rPr>
              <a:t>What is USA-OWN (continued)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523</Words>
  <Application>Microsoft Office PowerPoint</Application>
  <PresentationFormat>Panorámica</PresentationFormat>
  <Paragraphs>68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Inter Medium</vt:lpstr>
      <vt:lpstr>Inter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Leonardo Jiménez López</cp:lastModifiedBy>
  <cp:revision>2</cp:revision>
  <dcterms:created xsi:type="dcterms:W3CDTF">2013-01-27T09:14:16Z</dcterms:created>
  <dcterms:modified xsi:type="dcterms:W3CDTF">2026-07-20T19:39:00Z</dcterms:modified>
  <cp:category/>
</cp:coreProperties>
</file>